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" id="{e53ce6a7-15e5-d231-efd9-5d24e0cbad2d}">
          <p14:sldIdLst>
            <p14:sldId id="256"/>
          </p14:sldIdLst>
        </p14:section>
        <p14:section name="ที่มาและความน่าสนใจของชุดข้อมูล" id="{c9c3e222-a771-4f20-b7f3-1bca0c0669c8}">
          <p14:sldIdLst>
            <p14:sldId id="257"/>
          </p14:sldIdLst>
        </p14:section>
        <p14:section name="ปัญหาที่พบ" id="{9a2e9704-aa05-1582-6090-b389f5f7aaeb}">
          <p14:sldIdLst>
            <p14:sldId id="258"/>
          </p14:sldIdLst>
        </p14:section>
        <p14:section name="วิธีการแก้ปัญหาด้วย Data Mining" id="{8513c535-9757-70f4-28ec-5cd22b9ba655}">
          <p14:sldIdLst>
            <p14:sldId id="259"/>
          </p14:sldIdLst>
        </p14:section>
        <p14:section name="Feature Engineering" id="{e04c3f84-165d-4024-653e-e4796ab4d493}">
          <p14:sldIdLst>
            <p14:sldId id="260"/>
          </p14:sldIdLst>
        </p14:section>
        <p14:section name="Model: K-means Clustering และระบบแนะนำเพลง" id="{c3b1522f-8cc6-a46a-f9b8-128cbf4dc440}">
          <p14:sldIdLst>
            <p14:sldId id="261"/>
          </p14:sldIdLst>
        </p14:section>
        <p14:section name="การตั้งชื่อกลุ่ม: วิเคราะห์จากฟีเจอร์ใด" id="{0539e190-4358-5168-5416-35e511bedd4d}">
          <p14:sldIdLst>
            <p14:sldId id="262"/>
          </p14:sldIdLst>
        </p14:section>
        <p14:section name="ผลการแนะนำเพลง" id="{ffa8dac6-7cae-c8ed-41d6-3f431df80d4d}">
          <p14:sldIdLst>
            <p14:sldId id="263"/>
          </p14:sldIdLst>
        </p14:section>
        <p14:section name="Evaluation" id="{4c942b2e-d556-0735-5363-243f72ea2ff5}">
          <p14:sldIdLst>
            <p14:sldId id="264"/>
          </p14:sldIdLst>
        </p14:section>
        <p14:section name="สรุปผล" id="{0c3b61f3-4789-cd6f-14ea-b3a23b559f0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60120"/>
            <a:ext cx="8229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818888"/>
            <a:ext cx="8229600" cy="0"/>
          </a:xfrm>
          <a:prstGeom prst="line">
            <a:avLst/>
          </a:prstGeom>
          <a:noFill/>
          <a:ln w="9525">
            <a:solidFill>
              <a:srgbClr val="D9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Data Mining Project | Top Spotify Songs 2023</a:t>
            </a:r>
            <a:endParaRPr 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1732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nelgiriyewithana/top-spotify-songs-202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1"/>
          <p:cNvSpPr/>
          <p:nvPr/>
        </p:nvSpPr>
        <p:spPr>
          <a:xfrm>
            <a:off x="5760720" y="-1188720"/>
            <a:ext cx="4572000" cy="4572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eco circle 2"/>
          <p:cNvSpPr/>
          <p:nvPr/>
        </p:nvSpPr>
        <p:spPr>
          <a:xfrm>
            <a:off x="7589520" y="3108960"/>
            <a:ext cx="2743200" cy="2743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deco ring"/>
          <p:cNvSpPr/>
          <p:nvPr/>
        </p:nvSpPr>
        <p:spPr>
          <a:xfrm>
            <a:off x="4754880" y="2468880"/>
            <a:ext cx="2743200" cy="2743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64008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Mining Project</a:t>
            </a:r>
            <a:endParaRPr lang="en-US" sz="4000" dirty="0"/>
          </a:p>
        </p:txBody>
      </p:sp>
      <p:sp>
        <p:nvSpPr>
          <p:cNvPr id="6" name="cover rule"/>
          <p:cNvSpPr/>
          <p:nvPr/>
        </p:nvSpPr>
        <p:spPr>
          <a:xfrm>
            <a:off x="640080" y="2423160"/>
            <a:ext cx="10972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จัดกลุ่มและแนะนำเพลงจาก Top Spotify Songs 2023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ผู้จัดทำ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016940664002-2  นาย รณฤทธิ์ รับรอง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 |  เขียน code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016940664056-8  นาย นันทวุฒิ แก้วแดง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 |  หา data-set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016940664012-1  นาย กนธี สิงโห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 |  ออกแบบระบบ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ชุดข้อมูล: Top Spotify Songs 2023 (Kaggle)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ที่มาและความน่าสนใจของชุดข้อมูล</a:t>
            </a:r>
            <a:endParaRPr lang="en-US" sz="2400" dirty="0"/>
          </a:p>
        </p:txBody>
      </p:sp>
      <p:sp>
        <p:nvSpPr>
          <p:cNvPr id="3" name="stat 953"/>
          <p:cNvSpPr/>
          <p:nvPr/>
        </p:nvSpPr>
        <p:spPr>
          <a:xfrm>
            <a:off x="457200" y="1143000"/>
            <a:ext cx="2468880" cy="105156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953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099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เพลงในชุดข้อมูล</a:t>
            </a:r>
            <a:endParaRPr lang="en-US" sz="1100" dirty="0"/>
          </a:p>
        </p:txBody>
      </p:sp>
      <p:sp>
        <p:nvSpPr>
          <p:cNvPr id="6" name="stat 24"/>
          <p:cNvSpPr/>
          <p:nvPr/>
        </p:nvSpPr>
        <p:spPr>
          <a:xfrm>
            <a:off x="457200" y="2286000"/>
            <a:ext cx="2468880" cy="105156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คอลัมน์ (เสียง ความนิยม วันที่ปล่อย)</a:t>
            </a:r>
            <a:endParaRPr lang="en-US" sz="1100" dirty="0"/>
          </a:p>
        </p:txBody>
      </p:sp>
      <p:sp>
        <p:nvSpPr>
          <p:cNvPr id="9" name="stat 4"/>
          <p:cNvSpPr/>
          <p:nvPr/>
        </p:nvSpPr>
        <p:spPr>
          <a:xfrm>
            <a:off x="457200" y="3429000"/>
            <a:ext cx="2468880" cy="105156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502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959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แพลตฟอร์ม: Spotify, Apple, Deezer, Shazam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1887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 Spotify Songs 2023 จาก Kaggle เผยแพร่โดย Nidula Elgiriyewithana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รายการเพลงที่โด่งดังที่สุดปี 2023 บน Spotify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มีทั้งค่าเสียง (bpm, danceability, valence ฯลฯ) และความนิยมข้ามแพลตฟอร์ม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น่าสนใจ: ตอบได้ว่าเพลงฮิตมีลักษณะอย่างไร และต่อยอดเป็นระบบแนะนำเพลงได้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แหล่งข้อมูล: </a:t>
            </a:r>
            <a:pPr indent="0" marL="0">
              <a:buNone/>
            </a:pPr>
            <a:r>
              <a:rPr lang="en-US" sz="105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kaggle.com/datasets/nelgiriyewithana/top-spotify-songs-2023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ปัญหาที่พบ</a:t>
            </a:r>
            <a:endParaRPr lang="en-US" sz="2400" dirty="0"/>
          </a:p>
        </p:txBody>
      </p:sp>
      <p:sp>
        <p:nvSpPr>
          <p:cNvPr id="3" name="card ด้านข้อมูล"/>
          <p:cNvSpPr/>
          <p:nvPr/>
        </p:nvSpPr>
        <p:spPr>
          <a:xfrm>
            <a:off x="457200" y="1143000"/>
            <a:ext cx="4023360" cy="283464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ccent ด้านข้อมูล"/>
          <p:cNvSpPr/>
          <p:nvPr/>
        </p:nvSpPr>
        <p:spPr>
          <a:xfrm>
            <a:off x="457200" y="1143000"/>
            <a:ext cx="402336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ด้านข้อมูล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streams เสียหาย 1 แถว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ตัวเลขเป็นข้อความมีคอมมา เช่น "1,234"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ค่าว่าง: Shazam 50 แถว, key 95 แถว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เพลงซ้ำ 1 แถว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ชื่อเพลง/ศิลปินเพี้ยน 91 แถว (กู้คืนไม่ได้)</a:t>
            </a:r>
            <a:endParaRPr lang="en-US" sz="1200" dirty="0"/>
          </a:p>
        </p:txBody>
      </p:sp>
      <p:sp>
        <p:nvSpPr>
          <p:cNvPr id="7" name="card ด้านการวิเคราะห์"/>
          <p:cNvSpPr/>
          <p:nvPr/>
        </p:nvSpPr>
        <p:spPr>
          <a:xfrm>
            <a:off x="4663440" y="1143000"/>
            <a:ext cx="4023360" cy="283464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ccent ด้านการวิเคราะห์"/>
          <p:cNvSpPr/>
          <p:nvPr/>
        </p:nvSpPr>
        <p:spPr>
          <a:xfrm>
            <a:off x="4663440" y="1143000"/>
            <a:ext cx="40233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ด้านการวิเคราะห์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992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ข้อมูลความนิยมเบ้มาก (skew 2.0–2.9)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สเกลต่างกัน: bpm ราว 60–200 เทียบกับ 0–100%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ไม่มี genre และไม่มี label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ไม่มีข้อมูลพฤติกรรมผู้ใช้ จึงทำ supervised ไม่ได้</a:t>
            </a:r>
            <a:endParaRPr lang="en-US" sz="1200" dirty="0"/>
          </a:p>
        </p:txBody>
      </p:sp>
      <p:sp>
        <p:nvSpPr>
          <p:cNvPr id="11" name="band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โจทย์: จัดกลุ่มเพลงให้ตีความได้ แล้วนำกลุ่มไปแนะนำเพลง โดยไม่มี label และไม่มี genre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วิธีการแก้ปัญหาด้วย Data Mining</a:t>
            </a:r>
            <a:endParaRPr lang="en-US" sz="24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1508760" cy="16459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566928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94560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แปลงตัวเลข ตัดแถวเสียหาย จัดการค่าว่าง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7830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tep 2"/>
          <p:cNvSpPr/>
          <p:nvPr/>
        </p:nvSpPr>
        <p:spPr>
          <a:xfrm>
            <a:off x="2139696" y="1188720"/>
            <a:ext cx="1508760" cy="16459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2249424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49424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171907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2194560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log1p, Standardize, เลือกฟีเจอร์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17830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tep 3"/>
          <p:cNvSpPr/>
          <p:nvPr/>
        </p:nvSpPr>
        <p:spPr>
          <a:xfrm>
            <a:off x="3822192" y="1188720"/>
            <a:ext cx="1508760" cy="1645920"/>
          </a:xfrm>
          <a:prstGeom prst="rect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 3"/>
          <p:cNvSpPr/>
          <p:nvPr/>
        </p:nvSpPr>
        <p:spPr>
          <a:xfrm>
            <a:off x="3931920" y="128016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319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71907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K-means ×2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194560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Audio และ Popularity (k=3)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17830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tep 4"/>
          <p:cNvSpPr/>
          <p:nvPr/>
        </p:nvSpPr>
        <p:spPr>
          <a:xfrm>
            <a:off x="5504688" y="1188720"/>
            <a:ext cx="1508760" cy="16459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badge 4"/>
          <p:cNvSpPr/>
          <p:nvPr/>
        </p:nvSpPr>
        <p:spPr>
          <a:xfrm>
            <a:off x="5614416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14416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171907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14416" y="2194560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Elbow, Silhouette, ดูโปรไฟล์กลุ่ม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17830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27" name="step 5"/>
          <p:cNvSpPr/>
          <p:nvPr/>
        </p:nvSpPr>
        <p:spPr>
          <a:xfrm>
            <a:off x="7187184" y="1188720"/>
            <a:ext cx="1508760" cy="16459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badge 5"/>
          <p:cNvSpPr/>
          <p:nvPr/>
        </p:nvSpPr>
        <p:spPr>
          <a:xfrm>
            <a:off x="7296912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96912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171907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Recommend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96912" y="2194560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recommend(song, model, count)</a:t>
            </a:r>
            <a:endParaRPr lang="en-US" sz="1050" dirty="0"/>
          </a:p>
        </p:txBody>
      </p:sp>
      <p:sp>
        <p:nvSpPr>
          <p:cNvPr id="32" name="card ทำไมใช้ K-means (Unsupervised Learning)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accent ทำไมใช้ K-means (Unsupervised Learning)"/>
          <p:cNvSpPr/>
          <p:nvPr/>
        </p:nvSpPr>
        <p:spPr>
          <a:xfrm>
            <a:off x="457200" y="3017520"/>
            <a:ext cx="82296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3172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ทำไมใช้ K-means (Unsupervised Learning)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58444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ไม่มี label/genre จึงจัดกลุ่มจากความคล้ายของข้อมูลตัวเลข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ตีความผลได้จากค่ากลางของแต่ละกลุ่ม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ทำ 2 มุมมอง: Audio (ฟังคล้ายกัน) และ Popularity (ดังระดับเดียวกัน)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Feature Engineering</a:t>
            </a:r>
            <a:endParaRPr lang="en-US" sz="2400" dirty="0"/>
          </a:p>
        </p:txBody>
      </p:sp>
      <p:sp>
        <p:nvSpPr>
          <p:cNvPr id="3" name="card ขั้นตอน"/>
          <p:cNvSpPr/>
          <p:nvPr/>
        </p:nvSpPr>
        <p:spPr>
          <a:xfrm>
            <a:off x="457200" y="1143000"/>
            <a:ext cx="4572000" cy="205740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ccent ขั้นตอน"/>
          <p:cNvSpPr/>
          <p:nvPr/>
        </p:nvSpPr>
        <p:spPr>
          <a:xfrm>
            <a:off x="457200" y="1143000"/>
            <a:ext cx="45720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ขั้นตอน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แปลงชนิดข้อมูล: ลบคอมมา แล้วเป็นตัวเลข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ค่าว่าง: Shazam เติม 0 (ไม่เคยติดชาร์ต)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log1p กับข้อมูลความนิยม เพื่อลดความเบ้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StandardScaler: ค่าเฉลี่ย 0, ส่วนเบี่ยงเบน 1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8872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ฟีเจอร์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skew ก่อน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หลัง log1p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streams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2.0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-1.2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in_spotify_playlists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2.9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in_spotify_charts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2.6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0.4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212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ความเบ้ใกล้ 0 = ข้อมูลสมมาตร</a:t>
            </a:r>
            <a:endParaRPr lang="en-US" sz="1000" dirty="0"/>
          </a:p>
        </p:txBody>
      </p:sp>
      <p:sp>
        <p:nvSpPr>
          <p:cNvPr id="9" name="card Audio (8 ฟีเจอร์)"/>
          <p:cNvSpPr/>
          <p:nvPr/>
        </p:nvSpPr>
        <p:spPr>
          <a:xfrm>
            <a:off x="457200" y="3337560"/>
            <a:ext cx="4023360" cy="137160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ccent Audio (8 ฟีเจอร์)"/>
          <p:cNvSpPr/>
          <p:nvPr/>
        </p:nvSpPr>
        <p:spPr>
          <a:xfrm>
            <a:off x="457200" y="3337560"/>
            <a:ext cx="40233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Audio (8 ฟีเจอร์)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04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bpm, danceability, valence, energy, acousticness, instrumentalness, liveness, speechiness</a:t>
            </a:r>
            <a:endParaRPr lang="en-US" sz="1100" dirty="0"/>
          </a:p>
        </p:txBody>
      </p:sp>
      <p:sp>
        <p:nvSpPr>
          <p:cNvPr id="13" name="card Popularity (3 ฟีเจอร์)"/>
          <p:cNvSpPr/>
          <p:nvPr/>
        </p:nvSpPr>
        <p:spPr>
          <a:xfrm>
            <a:off x="4663440" y="3337560"/>
            <a:ext cx="4023360" cy="137160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ccent Popularity (3 ฟีเจอร์)"/>
          <p:cNvSpPr/>
          <p:nvPr/>
        </p:nvSpPr>
        <p:spPr>
          <a:xfrm>
            <a:off x="4663440" y="3337560"/>
            <a:ext cx="402336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Popularity (3 ฟีเจอร์)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904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streams, in_spotify_playlists, in_spotify_charts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ไม่ใช้ playlist ของ Apple/Deezer เพราะสัมพันธ์กับ Spotify 0.73–0.85 (นับซ้ำ)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Model: K-means Clustering และระบบแนะนำเพลง</a:t>
            </a:r>
            <a:endParaRPr lang="en-US" sz="2400" dirty="0"/>
          </a:p>
        </p:txBody>
      </p:sp>
      <p:sp>
        <p:nvSpPr>
          <p:cNvPr id="3" name="card Model 1: Audio K-means (k=3)"/>
          <p:cNvSpPr/>
          <p:nvPr/>
        </p:nvSpPr>
        <p:spPr>
          <a:xfrm>
            <a:off x="457200" y="1143000"/>
            <a:ext cx="4023360" cy="25603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ccent Model 1: Audio K-means (k=3)"/>
          <p:cNvSpPr/>
          <p:nvPr/>
        </p:nvSpPr>
        <p:spPr>
          <a:xfrm>
            <a:off x="457200" y="1143000"/>
            <a:ext cx="402336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 1: Audio K-means (k=3)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ฟีเจอร์เสียง 8 ตัว (Standardize)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Upbeat Dance Party: 556 เพลง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Acoustic Chill Melancholic: 249 เพลง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Rap Hip-Hop Talk-Heavy: 147 เพลง</a:t>
            </a:r>
            <a:endParaRPr lang="en-US" sz="1200" dirty="0"/>
          </a:p>
        </p:txBody>
      </p:sp>
      <p:sp>
        <p:nvSpPr>
          <p:cNvPr id="7" name="card Model 2: Popularity K-means (k=3)"/>
          <p:cNvSpPr/>
          <p:nvPr/>
        </p:nvSpPr>
        <p:spPr>
          <a:xfrm>
            <a:off x="4663440" y="1143000"/>
            <a:ext cx="4023360" cy="25603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ccent Model 2: Popularity K-means (k=3)"/>
          <p:cNvSpPr/>
          <p:nvPr/>
        </p:nvSpPr>
        <p:spPr>
          <a:xfrm>
            <a:off x="4663440" y="1143000"/>
            <a:ext cx="40233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 2: Popularity K-means (k=3)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9928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streams, playlist, ชาร์ต (log1p + Standardize)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All-Time Megahits: 329 เพลง (streams มัธยฐาน 921 ล้าน)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Moderate Hits: 382 เพลง (190 ล้าน)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Charting Hits: 241 เพลง (161 ล้าน, ปี 2023)</a:t>
            </a:r>
            <a:endParaRPr lang="en-US" sz="1200" dirty="0"/>
          </a:p>
        </p:txBody>
      </p:sp>
      <p:sp>
        <p:nvSpPr>
          <p:cNvPr id="11" name="band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recommend(song, model, count): หา cluster ของเพลงเริ่มต้น → ดึงเพลงอื่นใน cluster เดียวกัน → เรียงตามระยะห่าง Euclidean → คืน count เพลงที่ใกล้ที่สุด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การตั้งชื่อกลุ่ม: วิเคราะห์จากฟีเจอร์ใด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Popularity Model: ดูค่ามัธยฐานของแต่ละกลุ่ม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ชื่อกลุ่ม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ฟีเจอร์ที่ใช้ตัดสิน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ค่าของกลุ่ม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414"/>
                          </a:solidFill>
                        </a:rPr>
                        <a:t>All-Time Megahits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streams สูงสุดในทุกกลุ่ม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streams 921 ล้าน, playlist 7,963, ปีมัธยฐาน 2020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414"/>
                          </a:solidFill>
                        </a:rPr>
                        <a:t>Top Charting Hits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ใน 2 กลุ่มที่เหลือ in_spotify_charts สูงกว่า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ติดชาร์ต 13 ครั้ง (อีกกลุ่ม 0), ปีมัธยฐาน 2023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414"/>
                          </a:solidFill>
                        </a:rPr>
                        <a:t>Moderate Hits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กลุ่มที่เหลือ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ติดชาร์ต 0 ครั้ง, streams 190 ล้าน, playlist ราว 1,590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Audio Model: ดูค่าเฉลี่ยของแต่ละกลุ่ม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82112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ชื่อกลุ่ม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ฟีเจอร์ที่ใช้ตัดสิน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ค่าของกลุ่ม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414"/>
                          </a:solidFill>
                        </a:rPr>
                        <a:t>Rap Hip-Hop Talk-Heavy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speechiness_% สูงสุดในทุกกลุ่ม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speechiness 30.3 (กลุ่มอื่น 5.6 และ 6.8)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414"/>
                          </a:solidFill>
                        </a:rPr>
                        <a:t>Acoustic Chill Melancholic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ใน 2 กลุ่มที่เหลือ acousticness_% สูงกว่า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acousticness 52.4 (อีกกลุ่ม 15.9), energy 47.1 และ valence 33.7 ต่ำสุด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414"/>
                          </a:solidFill>
                        </a:rPr>
                        <a:t>Upbeat Dance Party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กลุ่มที่เหลือ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91414"/>
                          </a:solidFill>
                        </a:rPr>
                        <a:t>valence 59.6 และ energy 72.3 สูงสุด, danceability 70.9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ชื่อกลุ่มเป็นการตีความของผู้วิเคราะห์ ตั้งอัตโนมัติด้วยกติกาข้างต้น (class AutoLabel) ไม่ใช่ผลที่โมเดลให้โดยตรง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ผลการแนะนำเพลง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เพลงเริ่มต้น: Perfect - Ed Sheeran  |  กลุ่มเสียง: Acoustic Chill Melancholic  |  กลุ่มความนิยม: All-Time Megahits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model = audio: เพลงที่เสียงคล้ายกัน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40233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240280"/>
                <a:gridCol w="1508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เพลง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ศิลปิน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All Too Well (10 Minute Version)…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Taylor Swift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Maroon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Taylor Swift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After Hours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The Weeknd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Am I Dreaming (Metro Boomin…)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A$AP Rocky, Metro Boomin, Roisee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Creep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Radiohead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66344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model = pop: เพลงที่ดังระดับเดียวกัน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719072"/>
          <a:ext cx="40233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240280"/>
                <a:gridCol w="1508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เพลง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ศิลปิน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Say You Won't Let Go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James Arthur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Shallow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Lady Gaga, Bradley Cooper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Circles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Post Malone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Believer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Imagine Dragons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Something Just Like This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414"/>
                          </a:solidFill>
                        </a:rPr>
                        <a:t>The Chainsmokers, Coldplay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and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เรียงจากใกล้ไปไกล (Euclidean distance) ภายในกลุ่มเดียวกัน | audio ฟังคล้ายกัน แต่ pop ได้เพลงที่ดังระดับเดียวกัน ไม่จำเป็นต้องฟังคล้ายกัน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Evaluation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109728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Silhouette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ความหมาย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Audio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0.206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ขอบเขตกลุ่มซ้อนกัน (k=2: 0.228, k=4: 0.216)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Popularity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0.367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1414"/>
                          </a:solidFill>
                        </a:rPr>
                        <a:t>แยกชัดกว่า (k=2: 0.376, k=4: 0.363)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0"/>
                    </a:solidFill>
                  </a:tcPr>
                </a:tc>
              </a:tr>
            </a:tbl>
          </a:graphicData>
        </a:graphic>
      </p:graphicFrame>
      <p:sp>
        <p:nvSpPr>
          <p:cNvPr id="4" name="card วิธีประเมิน"/>
          <p:cNvSpPr/>
          <p:nvPr/>
        </p:nvSpPr>
        <p:spPr>
          <a:xfrm>
            <a:off x="457200" y="2606040"/>
            <a:ext cx="4023360" cy="21031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ccent วิธีประเมิน"/>
          <p:cNvSpPr/>
          <p:nvPr/>
        </p:nvSpPr>
        <p:spPr>
          <a:xfrm>
            <a:off x="457200" y="2606040"/>
            <a:ext cx="402336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วิธีประเมิน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7296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Elbow และ Silhouette ที่ k=2–8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เลือก k=3 เพราะตีความได้ (k=2 ได้แค่ 2 กลุ่ม)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ตรวจโปรไฟล์กลุ่มและตัวอย่างเพลง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ไขว้ผลของ 2 โมเดล</a:t>
            </a:r>
            <a:endParaRPr lang="en-US" sz="1200" dirty="0"/>
          </a:p>
        </p:txBody>
      </p:sp>
      <p:sp>
        <p:nvSpPr>
          <p:cNvPr id="8" name="card ข้อจำกัด"/>
          <p:cNvSpPr/>
          <p:nvPr/>
        </p:nvSpPr>
        <p:spPr>
          <a:xfrm>
            <a:off x="4663440" y="2606040"/>
            <a:ext cx="4023360" cy="210312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ccent ข้อจำกัด"/>
          <p:cNvSpPr/>
          <p:nvPr/>
        </p:nvSpPr>
        <p:spPr>
          <a:xfrm>
            <a:off x="4663440" y="2606040"/>
            <a:ext cx="40233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ข้อจำกัด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17296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Audio ~0.2: เพลงใกล้เส้นแบ่งอาจอยู่คนละกลุ่ม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ไม่มี ground truth จึงวัดความแม่นยำของการแนะนำไม่ได้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ชื่อกลุ่มตั้งจากโปรไฟล์โดยผู้วิเคราะห์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สรุปผล</a:t>
            </a:r>
            <a:endParaRPr lang="en-US" sz="2400" dirty="0"/>
          </a:p>
        </p:txBody>
      </p:sp>
      <p:sp>
        <p:nvSpPr>
          <p:cNvPr id="3" name="card ผลการจัดกลุ่ม"/>
          <p:cNvSpPr/>
          <p:nvPr/>
        </p:nvSpPr>
        <p:spPr>
          <a:xfrm>
            <a:off x="457200" y="1143000"/>
            <a:ext cx="2606040" cy="265176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ccent ผลการจัดกลุ่ม"/>
          <p:cNvSpPr/>
          <p:nvPr/>
        </p:nvSpPr>
        <p:spPr>
          <a:xfrm>
            <a:off x="457200" y="1143000"/>
            <a:ext cx="260604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ผลการจัดกลุ่ม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Audio: เต้นรำร่าเริง / อะคูสติกเศร้า / แร็พ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Popularity: เมกะฮิต / ปานกลาง / ติดชาร์ตมาแรง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Popularity แยกชัดกว่า (0.367 เทียบ 0.206)</a:t>
            </a:r>
            <a:endParaRPr lang="en-US" sz="1100" dirty="0"/>
          </a:p>
        </p:txBody>
      </p:sp>
      <p:sp>
        <p:nvSpPr>
          <p:cNvPr id="7" name="card ข้อค้นพบ"/>
          <p:cNvSpPr/>
          <p:nvPr/>
        </p:nvSpPr>
        <p:spPr>
          <a:xfrm>
            <a:off x="3268980" y="1143000"/>
            <a:ext cx="2606040" cy="265176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ccent ข้อค้นพบ"/>
          <p:cNvSpPr/>
          <p:nvPr/>
        </p:nvSpPr>
        <p:spPr>
          <a:xfrm>
            <a:off x="3268980" y="1143000"/>
            <a:ext cx="260604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5186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ข้อค้นพบ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709928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เพลงอะคูสติกเศร้าอยู่กลุ่มเมกะฮิต 40% (แร็พ 23%)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เพลงปี 2023 กระจุกในกลุ่ม Top Charting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เป็นแนวโน้ม ไม่ได้ทดสอบทางสถิติ</a:t>
            </a:r>
            <a:endParaRPr lang="en-US" sz="1100" dirty="0"/>
          </a:p>
        </p:txBody>
      </p:sp>
      <p:sp>
        <p:nvSpPr>
          <p:cNvPr id="11" name="card การแนะนำเพลง"/>
          <p:cNvSpPr/>
          <p:nvPr/>
        </p:nvSpPr>
        <p:spPr>
          <a:xfrm>
            <a:off x="6080760" y="1143000"/>
            <a:ext cx="2606040" cy="265176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ccent การแนะนำเพลง"/>
          <p:cNvSpPr/>
          <p:nvPr/>
        </p:nvSpPr>
        <p:spPr>
          <a:xfrm>
            <a:off x="6080760" y="1143000"/>
            <a:ext cx="26060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การแนะนำเพลง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09928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Perfect + audio: All Too Well, Maroon, After Hours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Perfect + pop: Say You Won't Let Go, Shallow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audio = เสียงคล้ายกัน, pop = ดังระดับเดียวกัน</a:t>
            </a:r>
            <a:endParaRPr lang="en-US" sz="1100" dirty="0"/>
          </a:p>
        </p:txBody>
      </p:sp>
      <p:sp>
        <p:nvSpPr>
          <p:cNvPr id="15" name="band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ข้อจำกัด: ไม่มี genre และพฤติกรรมผู้ใช้, ข้อมูลมี 952 เพลงที่ฮิตอยู่แล้ว | ต่อยอด: เพิ่ม genre จาก Spotify API และรวมผล 2 โมเดล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tify Data Mining">
  <a:themeElements>
    <a:clrScheme name="Spotify Data Mining">
      <a:dk1>
        <a:srgbClr val="191414"/>
      </a:dk1>
      <a:lt1>
        <a:srgbClr val="FFFFFF"/>
      </a:lt1>
      <a:dk2>
        <a:srgbClr val="1B4332"/>
      </a:dk2>
      <a:lt2>
        <a:srgbClr val="EEF5F0"/>
      </a:lt2>
      <a:accent1>
        <a:srgbClr val="1DB954"/>
      </a:accent1>
      <a:accent2>
        <a:srgbClr val="2D6A4F"/>
      </a:accent2>
      <a:accent3>
        <a:srgbClr val="F4A261"/>
      </a:accent3>
      <a:accent4>
        <a:srgbClr val="E76F51"/>
      </a:accent4>
      <a:accent5>
        <a:srgbClr val="6C757D"/>
      </a:accent5>
      <a:accent6>
        <a:srgbClr val="457B9D"/>
      </a:accent6>
      <a:hlink>
        <a:srgbClr val="1B7F3B"/>
      </a:hlink>
      <a:folHlink>
        <a:srgbClr val="6C757D"/>
      </a:folHlink>
    </a:clrScheme>
    <a:fontScheme name="Spotify Data Mining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Mining: Top Spotify Songs 2023</dc:title>
  <dc:subject>PptxGenJS Presentation</dc:subject>
  <dc:creator>PptxGenJS</dc:creator>
  <cp:lastModifiedBy>PptxGenJS</cp:lastModifiedBy>
  <cp:revision>1</cp:revision>
  <dcterms:created xsi:type="dcterms:W3CDTF">2026-10-17T13:52:37Z</dcterms:created>
  <dcterms:modified xsi:type="dcterms:W3CDTF">2026-10-17T13:52:37Z</dcterms:modified>
</cp:coreProperties>
</file>